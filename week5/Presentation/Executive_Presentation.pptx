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b6a2c9e0f4924" /><Relationship Type="http://schemas.openxmlformats.org/officeDocument/2006/relationships/extended-properties" Target="/docProps/app.xml" Id="R1d02c38e6bc9498c" /><Relationship Type="http://schemas.openxmlformats.org/officeDocument/2006/relationships/officeDocument" Target="/ppt/presentation.xml" Id="Ra0933925fcc7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00f96983a94062"/>
  </p:sldMasterIdLst>
  <p:notesMasterIdLst>
    <p:notesMasterId xmlns:r="http://schemas.openxmlformats.org/officeDocument/2006/relationships" r:id="R71276b20c8a84447"/>
  </p:notesMasterIdLst>
  <p:sldIdLst>
    <p:sldId xmlns:r="http://schemas.openxmlformats.org/officeDocument/2006/relationships" id="256" r:id="R228498fa82c24388"/>
    <p:sldId xmlns:r="http://schemas.openxmlformats.org/officeDocument/2006/relationships" id="257" r:id="R8c6affd2de6f48d5"/>
    <p:sldId xmlns:r="http://schemas.openxmlformats.org/officeDocument/2006/relationships" id="258" r:id="R0609e6d6ddd24568"/>
    <p:sldId xmlns:r="http://schemas.openxmlformats.org/officeDocument/2006/relationships" id="259" r:id="Rdeb431a7a49d4938"/>
    <p:sldId xmlns:r="http://schemas.openxmlformats.org/officeDocument/2006/relationships" id="260" r:id="Rf582b92c2526452b"/>
    <p:sldId xmlns:r="http://schemas.openxmlformats.org/officeDocument/2006/relationships" id="261" r:id="Rd90ab0d5b0414420"/>
    <p:sldId xmlns:r="http://schemas.openxmlformats.org/officeDocument/2006/relationships" id="262" r:id="Rac075a52d156498d"/>
    <p:sldId xmlns:r="http://schemas.openxmlformats.org/officeDocument/2006/relationships" id="263" r:id="R141a07953ca04992"/>
    <p:sldId xmlns:r="http://schemas.openxmlformats.org/officeDocument/2006/relationships" id="264" r:id="Rc3684f6070c44d74"/>
    <p:sldId xmlns:r="http://schemas.openxmlformats.org/officeDocument/2006/relationships" id="265" r:id="R5348db245ebf4daf"/>
    <p:sldId xmlns:r="http://schemas.openxmlformats.org/officeDocument/2006/relationships" id="266" r:id="Raf2456e3b85f4073"/>
    <p:sldId xmlns:r="http://schemas.openxmlformats.org/officeDocument/2006/relationships" id="267" r:id="Rcf3f6a50a34e45f7"/>
    <p:sldId xmlns:r="http://schemas.openxmlformats.org/officeDocument/2006/relationships" id="268" r:id="R58222f8ddb5b4b22"/>
    <p:sldId xmlns:r="http://schemas.openxmlformats.org/officeDocument/2006/relationships" id="269" r:id="Rb3680f3debd148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b03bf4e69460e" /><Relationship Type="http://schemas.openxmlformats.org/officeDocument/2006/relationships/slideMaster" Target="/ppt/slideMasters/slideMaster1.xml" Id="R0500f96983a94062" /><Relationship Type="http://schemas.openxmlformats.org/officeDocument/2006/relationships/notesMaster" Target="/ppt/notesMasters/notesMaster1.xml" Id="R71276b20c8a84447" /><Relationship Type="http://schemas.openxmlformats.org/officeDocument/2006/relationships/presProps" Target="/ppt/presProps.xml" Id="Rf4843ce7a61c47cc" /><Relationship Type="http://schemas.openxmlformats.org/officeDocument/2006/relationships/tableStyles" Target="/ppt/tableStyles.xml" Id="Rec2234903bd0453f" /><Relationship Type="http://schemas.openxmlformats.org/officeDocument/2006/relationships/slide" Target="/ppt/slides/slide1.xml" Id="R228498fa82c24388" /><Relationship Type="http://schemas.openxmlformats.org/officeDocument/2006/relationships/slide" Target="/ppt/slides/slide2.xml" Id="R8c6affd2de6f48d5" /><Relationship Type="http://schemas.openxmlformats.org/officeDocument/2006/relationships/slide" Target="/ppt/slides/slide3.xml" Id="R0609e6d6ddd24568" /><Relationship Type="http://schemas.openxmlformats.org/officeDocument/2006/relationships/slide" Target="/ppt/slides/slide4.xml" Id="Rdeb431a7a49d4938" /><Relationship Type="http://schemas.openxmlformats.org/officeDocument/2006/relationships/slide" Target="/ppt/slides/slide5.xml" Id="Rf582b92c2526452b" /><Relationship Type="http://schemas.openxmlformats.org/officeDocument/2006/relationships/slide" Target="/ppt/slides/slide6.xml" Id="Rd90ab0d5b0414420" /><Relationship Type="http://schemas.openxmlformats.org/officeDocument/2006/relationships/slide" Target="/ppt/slides/slide7.xml" Id="Rac075a52d156498d" /><Relationship Type="http://schemas.openxmlformats.org/officeDocument/2006/relationships/slide" Target="/ppt/slides/slide8.xml" Id="R141a07953ca04992" /><Relationship Type="http://schemas.openxmlformats.org/officeDocument/2006/relationships/slide" Target="/ppt/slides/slide9.xml" Id="Rc3684f6070c44d74" /><Relationship Type="http://schemas.openxmlformats.org/officeDocument/2006/relationships/slide" Target="/ppt/slides/slide10.xml" Id="R5348db245ebf4daf" /><Relationship Type="http://schemas.openxmlformats.org/officeDocument/2006/relationships/slide" Target="/ppt/slides/slide11.xml" Id="Raf2456e3b85f4073" /><Relationship Type="http://schemas.openxmlformats.org/officeDocument/2006/relationships/slide" Target="/ppt/slides/slide12.xml" Id="Rcf3f6a50a34e45f7" /><Relationship Type="http://schemas.openxmlformats.org/officeDocument/2006/relationships/slide" Target="/ppt/slides/slide13.xml" Id="R58222f8ddb5b4b22" /><Relationship Type="http://schemas.openxmlformats.org/officeDocument/2006/relationships/slide" Target="/ppt/slides/slide14.xml" Id="Rb3680f3debd1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71b1b2627b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3050132f94b46" /><Relationship Type="http://schemas.openxmlformats.org/officeDocument/2006/relationships/notesMaster" Target="/ppt/notesMasters/notesMaster1.xml" Id="R435cf67f2d5f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9a522c0d246d1" /><Relationship Type="http://schemas.openxmlformats.org/officeDocument/2006/relationships/notesMaster" Target="/ppt/notesMasters/notesMaster1.xml" Id="R64509e50352743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a04ac31cf477e" /><Relationship Type="http://schemas.openxmlformats.org/officeDocument/2006/relationships/notesMaster" Target="/ppt/notesMasters/notesMaster1.xml" Id="R43535cffbf4a45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13bbd5517419b" /><Relationship Type="http://schemas.openxmlformats.org/officeDocument/2006/relationships/notesMaster" Target="/ppt/notesMasters/notesMaster1.xml" Id="Rfbd2d8caba7c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a5701bbd04ee8" /><Relationship Type="http://schemas.openxmlformats.org/officeDocument/2006/relationships/notesMaster" Target="/ppt/notesMasters/notesMaster1.xml" Id="R4477e8fa6a914a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6a467a39d4ab5" /><Relationship Type="http://schemas.openxmlformats.org/officeDocument/2006/relationships/notesMaster" Target="/ppt/notesMasters/notesMaster1.xml" Id="Rf3e09b0b3c0041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270c0da634ae4" /><Relationship Type="http://schemas.openxmlformats.org/officeDocument/2006/relationships/notesMaster" Target="/ppt/notesMasters/notesMaster1.xml" Id="R39df8dad63f545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8121219bc24aa3" /><Relationship Type="http://schemas.openxmlformats.org/officeDocument/2006/relationships/notesMaster" Target="/ppt/notesMasters/notesMaster1.xml" Id="Re1559c43c66044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7706f42b544037" /><Relationship Type="http://schemas.openxmlformats.org/officeDocument/2006/relationships/notesMaster" Target="/ppt/notesMasters/notesMaster1.xml" Id="Re6053b0a1c254e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b18db0f09340db" /><Relationship Type="http://schemas.openxmlformats.org/officeDocument/2006/relationships/notesMaster" Target="/ppt/notesMasters/notesMaster1.xml" Id="R68f0bf5eacae42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3066551ac4377" /><Relationship Type="http://schemas.openxmlformats.org/officeDocument/2006/relationships/notesMaster" Target="/ppt/notesMasters/notesMaster1.xml" Id="R0cf4fae5970c4a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e0c40bcddd4815" /><Relationship Type="http://schemas.openxmlformats.org/officeDocument/2006/relationships/notesMaster" Target="/ppt/notesMasters/notesMaster1.xml" Id="Rb24d91918a0948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bf2d5661674a6b" /><Relationship Type="http://schemas.openxmlformats.org/officeDocument/2006/relationships/notesMaster" Target="/ppt/notesMasters/notesMaster1.xml" Id="R7f2d4d2695574b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1ad71f52394c74" /><Relationship Type="http://schemas.openxmlformats.org/officeDocument/2006/relationships/notesMaster" Target="/ppt/notesMasters/notesMaster1.xml" Id="R6017e82b77ee40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AnalystLab Africa Week 5 Data Analytics project. Reporting period: 1 January to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provided SwiftLog datasets and Analysis/Presentation_Data.json.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455bc5a3344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acb3b04584e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9a26d0fcc44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44048375e4d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e45e2719b4f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64a61b7d44a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17930-A965-472B-9231-97D9E5A54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63AE4A-BF65-4332-9469-A424BE341A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1625EE-7E91-4C45-8B58-3693E3C7C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10C66-1F31-4787-A708-FCAA2A6D2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24D30D-2F7D-40CE-A1CB-F03C1481EF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366292-6005-43AA-A555-F0635D09F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C45076-89AA-497C-A647-8EDADEF98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CD9108-3B28-487E-B302-D37E6B6B9F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4CB04F-25EB-4E6C-B8BE-706B029DE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F378DF-0DA9-44DC-A5C0-C77A33DE3D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7d32686b1495e" /><Relationship Type="http://schemas.openxmlformats.org/officeDocument/2006/relationships/slideLayout" Target="/ppt/slideLayouts/slideLayout1.xml" Id="Re681e6c4607344d3" /><Relationship Type="http://schemas.openxmlformats.org/officeDocument/2006/relationships/slideLayout" Target="/ppt/slideLayouts/slideLayout2.xml" Id="R3135e24212ef40c0" /><Relationship Type="http://schemas.openxmlformats.org/officeDocument/2006/relationships/slideLayout" Target="/ppt/slideLayouts/slideLayout3.xml" Id="R86798adc2cfd4892" /><Relationship Type="http://schemas.openxmlformats.org/officeDocument/2006/relationships/slideLayout" Target="/ppt/slideLayouts/slideLayout4.xml" Id="R7045a405cede40a1" /><Relationship Type="http://schemas.openxmlformats.org/officeDocument/2006/relationships/slideLayout" Target="/ppt/slideLayouts/slideLayout5.xml" Id="R2cd99d4d48604880" /><Relationship Type="http://schemas.openxmlformats.org/officeDocument/2006/relationships/slideLayout" Target="/ppt/slideLayouts/slideLayout6.xml" Id="R8cc54ce3c4394c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81e6c4607344d3"/>
    <p:sldLayoutId xmlns:r="http://schemas.openxmlformats.org/officeDocument/2006/relationships" id="2147483650" r:id="R3135e24212ef40c0"/>
    <p:sldLayoutId xmlns:r="http://schemas.openxmlformats.org/officeDocument/2006/relationships" id="2147483651" r:id="R86798adc2cfd4892"/>
    <p:sldLayoutId xmlns:r="http://schemas.openxmlformats.org/officeDocument/2006/relationships" id="2147483652" r:id="R7045a405cede40a1"/>
    <p:sldLayoutId xmlns:r="http://schemas.openxmlformats.org/officeDocument/2006/relationships" id="2147483653" r:id="R2cd99d4d48604880"/>
    <p:sldLayoutId xmlns:r="http://schemas.openxmlformats.org/officeDocument/2006/relationships" id="2147483654" r:id="R8cc54ce3c4394c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29c31922424b15" /><Relationship Type="http://schemas.openxmlformats.org/officeDocument/2006/relationships/notesSlide" Target="/ppt/notesSlides/notesSlide1.xml" Id="Re240cc0a3f21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cfb4d765341c1" /><Relationship Type="http://schemas.openxmlformats.org/officeDocument/2006/relationships/notesSlide" Target="/ppt/notesSlides/notesSlide2.xml" Id="R6cb50c3760ab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80d6a039e49b2" /><Relationship Type="http://schemas.openxmlformats.org/officeDocument/2006/relationships/notesSlide" Target="/ppt/notesSlides/notesSlide3.xml" Id="R96423cc36154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ef4f403054713" /><Relationship Type="http://schemas.openxmlformats.org/officeDocument/2006/relationships/notesSlide" Target="/ppt/notesSlides/notesSlide4.xml" Id="R5abb7895ce5a4a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b07dfbf374304" /><Relationship Type="http://schemas.openxmlformats.org/officeDocument/2006/relationships/chart" Target="/ppt/slides/charts/chart1.xml" Id="Re009d5655a994ec9" /><Relationship Type="http://schemas.openxmlformats.org/officeDocument/2006/relationships/notesSlide" Target="/ppt/notesSlides/notesSlide5.xml" Id="Rf1392d848c4e4f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a48f80e0844d1" /><Relationship Type="http://schemas.openxmlformats.org/officeDocument/2006/relationships/chart" Target="/ppt/slides/charts/chart2.xml" Id="R649fe8ef953a43a7" /><Relationship Type="http://schemas.openxmlformats.org/officeDocument/2006/relationships/notesSlide" Target="/ppt/notesSlides/notesSlide6.xml" Id="R76e909f8fc0649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0e11ecd8841a9" /><Relationship Type="http://schemas.openxmlformats.org/officeDocument/2006/relationships/chart" Target="/ppt/slides/charts/chart3.xml" Id="R41b6cfbdb93d4f94" /><Relationship Type="http://schemas.openxmlformats.org/officeDocument/2006/relationships/notesSlide" Target="/ppt/notesSlides/notesSlide7.xml" Id="R3f8448aa7c8d4c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4a10b11acc4679" /><Relationship Type="http://schemas.openxmlformats.org/officeDocument/2006/relationships/notesSlide" Target="/ppt/notesSlides/notesSlide8.xml" Id="R7d70eb949d614c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4889343ec446b" /><Relationship Type="http://schemas.openxmlformats.org/officeDocument/2006/relationships/chart" Target="/ppt/slides/charts/chart4.xml" Id="Rb6134e4840664632" /><Relationship Type="http://schemas.openxmlformats.org/officeDocument/2006/relationships/notesSlide" Target="/ppt/notesSlides/notesSlide9.xml" Id="Rf65334b80e6e4b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59e10c8cf4a4d" /><Relationship Type="http://schemas.openxmlformats.org/officeDocument/2006/relationships/chart" Target="/ppt/slides/charts/chart5.xml" Id="R593308cc45994f12" /><Relationship Type="http://schemas.openxmlformats.org/officeDocument/2006/relationships/notesSlide" Target="/ppt/notesSlides/notesSlide10.xml" Id="Rfd35901f13fb44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aea77106c4339" /><Relationship Type="http://schemas.openxmlformats.org/officeDocument/2006/relationships/notesSlide" Target="/ppt/notesSlides/notesSlide11.xml" Id="R6f79b68e546946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e7ce9111847a0" /><Relationship Type="http://schemas.openxmlformats.org/officeDocument/2006/relationships/notesSlide" Target="/ppt/notesSlides/notesSlide12.xml" Id="R60379e8016724e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dcebdf64e2499f" /><Relationship Type="http://schemas.openxmlformats.org/officeDocument/2006/relationships/notesSlide" Target="/ppt/notesSlides/notesSlide13.xml" Id="R342fec4ac3024e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84b2c7a974daf" /><Relationship Type="http://schemas.openxmlformats.org/officeDocument/2006/relationships/notesSlide" Target="/ppt/notesSlides/notesSlide14.xml" Id="R6bb9f31c14dd470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Orders by month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43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Orders by month</c:v>
          </c:tx>
          <c:spPr>
            <a:solidFill xmlns:a="http://schemas.openxmlformats.org/drawingml/2006/main">
              <a:srgbClr val="137D7B"/>
            </a:solidFill>
          </c:spPr>
          <c:invertIfNegative val="0"/>
          <c:cat>
            <c:numRef>
              <c:f>'Chart Data'!$A$2:$A$10</c:f>
              <c:numCache>
                <c:formatCode>General</c:formatCode>
                <c:ptCount val="9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</c:numCache>
            </c:numRef>
          </c:cat>
          <c:val>
            <c:numRef>
              <c:f>'Chart Data'!$B$2:$B$10</c:f>
              <c:numCache>
                <c:formatCode>#,##0</c:formatCode>
                <c:ptCount val="9"/>
                <c:pt idx="0">
                  <c:v>594</c:v>
                </c:pt>
                <c:pt idx="1">
                  <c:v>577</c:v>
                </c:pt>
                <c:pt idx="2">
                  <c:v>597</c:v>
                </c:pt>
                <c:pt idx="3">
                  <c:v>638</c:v>
                </c:pt>
                <c:pt idx="4">
                  <c:v>612</c:v>
                </c:pt>
                <c:pt idx="5">
                  <c:v>579</c:v>
                </c:pt>
                <c:pt idx="6">
                  <c:v>595</c:v>
                </c:pt>
                <c:pt idx="7">
                  <c:v>654</c:v>
                </c:pt>
                <c:pt idx="8">
                  <c:v>154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F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8E3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Recorded delayed shipment share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43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Recorded delayed shipment share</c:v>
          </c:tx>
          <c:spPr>
            <a:solidFill xmlns:a="http://schemas.openxmlformats.org/drawingml/2006/main">
              <a:srgbClr val="BF4A3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Abuja</c:v>
                </c:pt>
                <c:pt idx="1">
                  <c:v>Ibadan</c:v>
                </c:pt>
                <c:pt idx="2">
                  <c:v>Kano</c:v>
                </c:pt>
                <c:pt idx="3">
                  <c:v>Lagos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0.64398340249</c:v>
                </c:pt>
                <c:pt idx="1">
                  <c:v>0.637903225806</c:v>
                </c:pt>
                <c:pt idx="2">
                  <c:v>0.656565656566</c:v>
                </c:pt>
                <c:pt idx="3">
                  <c:v>0.610410094637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F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3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Shipments per employee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43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Shipments per employee</c:v>
          </c:tx>
          <c:spPr>
            <a:solidFill xmlns:a="http://schemas.openxmlformats.org/drawingml/2006/main">
              <a:srgbClr val="CE8C29"/>
            </a:solidFill>
          </c:spPr>
          <c:invertIfNegative val="0"/>
          <c:cat>
            <c:strRef>
              <c:f>'Chart Data'!$A$2:$A$16</c:f>
              <c:strCache>
                <c:ptCount val="15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</c:strCache>
            </c:strRef>
          </c:cat>
          <c:val>
            <c:numRef>
              <c:f>'Chart Data'!$B$2:$B$16</c:f>
              <c:numCache>
                <c:formatCode>0.0</c:formatCode>
                <c:ptCount val="15"/>
                <c:pt idx="0">
                  <c:v>22.1333333333</c:v>
                </c:pt>
                <c:pt idx="1">
                  <c:v>26.8333333333</c:v>
                </c:pt>
                <c:pt idx="2">
                  <c:v>20.2352941176</c:v>
                </c:pt>
                <c:pt idx="3">
                  <c:v>23.6</c:v>
                </c:pt>
                <c:pt idx="4">
                  <c:v>23.8571428571</c:v>
                </c:pt>
                <c:pt idx="5">
                  <c:v>22.7857142857</c:v>
                </c:pt>
                <c:pt idx="6">
                  <c:v>21.8235294118</c:v>
                </c:pt>
                <c:pt idx="7">
                  <c:v>25.5384615385</c:v>
                </c:pt>
                <c:pt idx="8">
                  <c:v>23.7142857143</c:v>
                </c:pt>
                <c:pt idx="9">
                  <c:v>22.2666666667</c:v>
                </c:pt>
                <c:pt idx="10">
                  <c:v>28.9090909091</c:v>
                </c:pt>
                <c:pt idx="11">
                  <c:v>33.7</c:v>
                </c:pt>
                <c:pt idx="12">
                  <c:v>19.9285714286</c:v>
                </c:pt>
                <c:pt idx="13">
                  <c:v>37.7777777778</c:v>
                </c:pt>
                <c:pt idx="14">
                  <c:v>35.2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F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3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Leading products: delivered catalogue value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43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Leading products: delivered catalogue value</c:v>
          </c:tx>
          <c:spPr>
            <a:solidFill xmlns:a="http://schemas.openxmlformats.org/drawingml/2006/main">
              <a:srgbClr val="137D7B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P203</c:v>
                </c:pt>
                <c:pt idx="1">
                  <c:v>P085</c:v>
                </c:pt>
                <c:pt idx="2">
                  <c:v>P229</c:v>
                </c:pt>
                <c:pt idx="3">
                  <c:v>P006</c:v>
                </c:pt>
                <c:pt idx="4">
                  <c:v>P159</c:v>
                </c:pt>
                <c:pt idx="5">
                  <c:v>P220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85977.99</c:v>
                </c:pt>
                <c:pt idx="1">
                  <c:v>83844</c:v>
                </c:pt>
                <c:pt idx="2">
                  <c:v>79260.8</c:v>
                </c:pt>
                <c:pt idx="3">
                  <c:v>72848.16</c:v>
                </c:pt>
                <c:pt idx="4">
                  <c:v>65588.75</c:v>
                </c:pt>
                <c:pt idx="5">
                  <c:v>65358.72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F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3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Return events by recorded reason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42F43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Return events by recorded reason</c:v>
          </c:tx>
          <c:spPr>
            <a:solidFill xmlns:a="http://schemas.openxmlformats.org/drawingml/2006/main">
              <a:srgbClr val="CE8C2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Damaged</c:v>
                </c:pt>
                <c:pt idx="1">
                  <c:v>Late Delivery</c:v>
                </c:pt>
                <c:pt idx="2">
                  <c:v>Wrong Item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152</c:v>
                </c:pt>
                <c:pt idx="1">
                  <c:v>185</c:v>
                </c:pt>
                <c:pt idx="2">
                  <c:v>163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42F4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8E3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38558-9F26-4F6C-9547-EDE4535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SwiftLog Logistics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C32DD-49A9-4DAE-97AF-B307F8D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924F3-714A-4A92-BBE5-0DE99FB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798BE-376F-40C2-9441-5FBBAAF9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Supply chain performance</a:t>
            </a:r>
          </a:p>
          <a:p xmlns:a="http://schemas.openxmlformats.org/drawingml/2006/main">
            <a:pPr>
              <a:def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and business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C980A-9A6F-4114-8806-BF5773FD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37D7B"/>
                </a:solidFill>
                <a:latin typeface="DejaVu Sans"/>
                <a:ea typeface="DejaVu Sans"/>
                <a:cs typeface="DejaVu Sans"/>
              </a:rPr>
              <a:t>Iyiola Anjolaoluwa Emmanuel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0053B-DB69-4F01-B943-4D083D7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AnalystLab Africa</a:t>
            </a:r>
          </a:p>
          <a:p xmlns:a="http://schemas.openxmlformats.org/drawingml/2006/main">
            <a:pPr>
              <a:def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Week 5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020334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555AF-54BB-4C15-ABF0-19507D7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Business objectives and data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D5891-C6AA-4985-8DE0-BBC9F6F3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D3FE1-6A48-435E-BA40-FFB516ED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0225B-0F0F-4BA9-A56A-2100F48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The analysis examines delivery service, inventory visibility and commercial activity across the supplied logistics records.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F8A28-0362-4886-971E-B678EBEE52A1}"/>
              </a:ext>
            </a:extLst>
          </p:cNvPr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05000"/>
                <a:gridCol w="6115050"/>
              </a:tblGrid>
              <a:tr h="523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 area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Records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Preparation and interpretation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 and order items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5,000 / 15,000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Preserved order and item grain. Separated delivered catalogue value.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Customers and products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1,000 / 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Checked identifiers and relationships. Standardised field types.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Shipments and delivery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5,000 each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Matched shipment identifiers. Preserved recorded delivery labels.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Inventory and warehouses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 /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Retained movements and aggregated observed stock pairs.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Suppliers, employees, returns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/ 200 / 500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Kept suppliers standalone. Counted distinct returned orders.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425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705C9-3542-45FD-AF8A-4C10B94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Report structure and analytical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9AA62-1B80-4AA9-ABDF-CA0E966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40E3C-A4AA-45E4-83A9-4DC7C00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49A87-40CD-4D80-9447-0A377DA9666D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10000"/>
                <a:gridCol w="4305300"/>
              </a:tblGrid>
              <a:tr h="6826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Report page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Management question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Main evidence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Executive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indicators need attention?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Orders, catalogue value, service status and returns.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customers and cities contribute activity?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value, order frequency and first observations.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Inventory and warehouses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are quantity and workload differences?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stock pairs and shipment workload.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Shipment and 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are delayed records concentrated?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city, warehouse and recorded delay.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Suppliers and products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Which products contribute value?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Catalogue-priced value and order-level return association.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11E4C-888D-4E27-A5EC-6864FAB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The Power BI project defines 14 tables, 12 relationships and 47 measures. Suppliers and the low-stock parameter remain disconnected.</a:t>
            </a:r>
          </a:p>
        </p:txBody>
      </p:sp>
    </p:spTree>
    <p:extLst>
      <p:ext uri="{BB962C8B-B14F-4D97-AF65-F5344CB8AC3E}">
        <p14:creationId xmlns:p14="http://schemas.microsoft.com/office/powerpoint/2010/main" val="574429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55FC3-A465-482F-BA19-55C33D6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Executive KPI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EDC3-73E5-4B2F-81C1-0A748B9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48127-7B32-4748-8225-BA99EF8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30656-68AD-4BE3-A854-B02052A5117E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095500"/>
                <a:gridCol w="4686300"/>
              </a:tblGrid>
              <a:tr h="59871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Indicator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Basis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Delivered catalogue value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7,107,470.53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Supplied prices, with currency unspecified.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Priced delivered order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4,504.10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across 1,578 priced delivered orders.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Recorded on-time rate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36.28%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1,814 of 5,000 shipment records.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Average recorded delay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3.57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Delay rather than total transit duration.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 with return records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9.46%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473 distinct orders from 500 return events.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Orders without item records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coverage is incomplete.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568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ADE3F-0397-4565-AF9B-4AC404B4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Monthly order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0CB9F-7200-48FF-830B-205985C8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36718-862D-441E-B8CE-6137042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BFBCA4C-D57E-4501-967C-9C57CD173069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5723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9d5655a994ec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2133A-E0CA-43DD-9D0F-CE78805A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295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August has the highest monthly count at 654 orders.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April has the highest daily rate among complete months at 21.27.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September contains eight days and averages 19.25 orders per 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7343A-91A8-4E29-AA3A-BD85B362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Period: 1 January - 8 September 2026. The September count is partial.</a:t>
            </a:r>
          </a:p>
        </p:txBody>
      </p:sp>
    </p:spTree>
    <p:extLst>
      <p:ext uri="{BB962C8B-B14F-4D97-AF65-F5344CB8AC3E}">
        <p14:creationId xmlns:p14="http://schemas.microsoft.com/office/powerpoint/2010/main" val="7514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CFBE5-A1BD-4F99-AA05-12766FDA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Delivery performance by customer 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ECE57-5753-4449-856A-59D83E4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0D2B9-9C9A-42D0-8D59-90E1CC34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FA6F297-AF40-4AE0-9A54-0A00CB55D6CA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33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9fe8ef953a43a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9DEF-9039-426D-9FC0-44C0B9EA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3143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Kano has 845 delayed records among 1,287 shipments (65.66%).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Lagos has the lowest recorded delayed share at 61.04%.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Customer city is the available destination proxy.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1E90C-42C3-4791-B055-418A9BD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Source On Time status corresponds to 0-2 delay days. Only 12.22% have zero delay.</a:t>
            </a:r>
          </a:p>
        </p:txBody>
      </p:sp>
    </p:spTree>
    <p:extLst>
      <p:ext uri="{BB962C8B-B14F-4D97-AF65-F5344CB8AC3E}">
        <p14:creationId xmlns:p14="http://schemas.microsoft.com/office/powerpoint/2010/main" val="11817526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D6BFD-6996-4D66-AA52-370E67A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Warehouse service and employee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25B66-3F57-416B-81BF-C2114FBE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BF173-A239-4FB5-BC56-97C3D5AB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E4B456B-9BE6-4CAA-8267-FA118501C769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3342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b6cfbdb93d4f9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647EF-6CBE-4847-A2F6-9E9AB258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314325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W14 has the highest observed workload at 37.78 shipments per employee.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W13 has the lowest at 19.93.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Recorded on-time service ranges from 32.04% at W05 to 41.27% at W01.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C451A-A318-4EC6-A55C-BA666C4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Workload and service proxies do not establish cost efficiency. Hours, costs and route mix are absent.</a:t>
            </a:r>
          </a:p>
        </p:txBody>
      </p:sp>
    </p:spTree>
    <p:extLst>
      <p:ext uri="{BB962C8B-B14F-4D97-AF65-F5344CB8AC3E}">
        <p14:creationId xmlns:p14="http://schemas.microsoft.com/office/powerpoint/2010/main" val="1349278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F74B-9E9F-4D98-98D1-F4A1017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Inventory quantities and measurement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F69DE-9863-4640-A63E-00869B6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5F822-D1B3-4868-B996-D744C48F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5157-5BA3-4256-9C2E-DE9BEDB6D48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4305300"/>
              </a:tblGrid>
              <a:tr h="619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Inventory indicator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Aggregate stock quantity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1,007,764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Sum of supplied stock movement quantities.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warehouse-product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combinations in the source.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Pairs below 100 units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264 (10.75%)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planning threshold, adjustable in the report.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Unobserved combinations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1,295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 rather than zero stock.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Largest warehouse aggregate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W12: 77,517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Quantity proxy rather than current on-hand balance.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3B571-6A17-4673-9AEF-C2A0CF1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Inventory has no date or opening and closing balances. Capacity, standard turnover and physical utilisation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2040672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A0C79-BED7-4F9E-AF4E-69B3427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Customer and product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987F7-2615-4CF0-AAD7-294740B2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7EABF-F75D-4B0E-B712-02C39197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AB65344-DF88-4C6B-B3FC-4FE9C60D2314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134e484066463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EBAEE-D171-4286-995E-24BB8E3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314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P203 leads delivered value at 85,977.99 catalogue price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Customer C0223 leads customer value at 57,592.36.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951 of 991 active customers place more than one observed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49C48-E196-4D8C-B014-699BCEAC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Catalogue value does not establish recognised revenue or profit. Repeat purchasing does not establish retention.</a:t>
            </a:r>
          </a:p>
        </p:txBody>
      </p:sp>
    </p:spTree>
    <p:extLst>
      <p:ext uri="{BB962C8B-B14F-4D97-AF65-F5344CB8AC3E}">
        <p14:creationId xmlns:p14="http://schemas.microsoft.com/office/powerpoint/2010/main" val="1238487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5CCC9-CDCA-4861-8036-83D2F76E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Returns and product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442E-FF1F-47AF-B9A0-8D43037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94BC-07EC-44A7-9873-8F1609F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B9D237-53B2-4951-BB08-B00AE334B6FA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3308cc45994f1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76C7-F130-4EE5-B50C-CCD01012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3238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500 events relate to 473 distinct orders.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Late Delivery is the leading recorded reason: 185 events (37.0%).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10 of the 47 orders containing P032 have a return record (21.28%). The actual returned product is unidentified.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545E2-A73E-4A49-9548-E13F1F42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315 return-associated orders currently have Pending or Cancelled status. Lifecycle timestamps are absent.</a:t>
            </a:r>
          </a:p>
        </p:txBody>
      </p:sp>
    </p:spTree>
    <p:extLst>
      <p:ext uri="{BB962C8B-B14F-4D97-AF65-F5344CB8AC3E}">
        <p14:creationId xmlns:p14="http://schemas.microsoft.com/office/powerpoint/2010/main" val="716381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D23DE-AB8D-4C14-80C1-683B673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Business recommendations: logistics and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7BF6C-1EB1-4242-8CA6-74AE282A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59C6B-868A-4BC5-98A0-46FDB37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4805D-C583-4DC2-80CF-21B395DA2AD9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38500"/>
                <a:gridCol w="5257800"/>
              </a:tblGrid>
              <a:tr h="7223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Management action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 optimisation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Kano delayed share: 65.66%.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handoffs and dispatch timing, then test a targeted service change.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Logistics optimisation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W05 on-time share: 32.04%.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route mix and dispatch processes with better performing sites.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Inventory management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264 observed pairs below 100 units.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balances and demand before setting replenishment points.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Warehouse efficiency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W14 workload: 37.78 per employee.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shift balancing using handling hours and service measures.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Supplier improvement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150 suppliers without product mapping.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Capture supplier, purchase-order and receipt relationships.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86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60549-A213-4C1A-9CAE-CD593B3E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Business recommendations: customers and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588E7-E0CD-4ECA-8219-3F49E8F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4E83F-45A2-4832-9B90-9B9F73C6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402DB-CC98-4406-90AA-B8FEF8651181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238500"/>
                <a:gridCol w="5257800"/>
              </a:tblGrid>
              <a:tr h="7223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Management action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retention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951 active customers repeat purchase.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service communication and measure subsequent cohort activity.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Operational cost 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1,626 Cancelled orders have shipment records.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 lifecycle timing and verify cancellation before dispatch.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Return reduction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185 late-delivery return events.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Improve delivery communication, item scans and packing checks.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Performance monitoring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236 orders have no item records.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Monitor item coverage and preserve timestamped status histories.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2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growth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P203 delivered value: 85,977.99.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Protect availability and test offers after checking margin and capacity.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503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6B50E-C61F-4560-AF62-4D31890F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Expected impact and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3D7A5-2E64-44DF-A315-743307B0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84368-84A6-4F40-8261-661F917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7013-0281-4117-8C8F-050B21FA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At the observed volume of 5,000 shipments, a one-percentage-point change in recorded on-time performance corresponds to 50 shipments.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7BFD-E10C-4338-B821-0C7C37A53C3E}"/>
              </a:ext>
            </a:extLst>
          </p:cNvPr>
          <p:cNvGraphicFramePr/>
          <p:nvPr/>
        </p:nvGraphicFramePr>
        <p:xfrm>
          <a:off xmlns:a="http://schemas.openxmlformats.org/drawingml/2006/main" x="609600" y="2857500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53250"/>
                <a:gridCol w="4019550"/>
              </a:tblGrid>
              <a:tr h="53578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rate improvement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Corresponding shipment count</a:t>
                      </a:r>
                    </a:p>
                  </a:txBody>
                  <a:tcPr marL="91440" marR="91440" marT="45720" marB="45720">
                    <a:solidFill>
                      <a:srgbClr val="137D7B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percentage point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percentage 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percentage points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F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4FE78-1231-4E12-B6DB-1D5E0E1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These are arithmetic service scenarios. No operational improvement or financial saving is claimed. Unit costs and verified service timestamps are needed to measure actual impact.</a:t>
            </a:r>
          </a:p>
        </p:txBody>
      </p:sp>
    </p:spTree>
    <p:extLst>
      <p:ext uri="{BB962C8B-B14F-4D97-AF65-F5344CB8AC3E}">
        <p14:creationId xmlns:p14="http://schemas.microsoft.com/office/powerpoint/2010/main" val="430787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7555D-5EB1-4657-8502-11993FFD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Conclusions and data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1E21C-8AEE-451A-949A-CC9F416B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SwiftLog Logistics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2CBAE-3A33-4462-8B8C-49A0485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008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2432E-64DF-4398-A84E-F51A246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Delivery service, inventory visibility and data completeness are the main management priorities. Kano and W05 warrant closer operational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D66A8-BDA4-42FA-BBDE-3903CBA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Supplier performance, physical capacity utilisation and standard inventory turnover cannot be estimated from the supplied fields. Catalogue value and return associations retain their stated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D42C0-7116-4989-A4D0-FD908B7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42F43"/>
                </a:solidFill>
                <a:latin typeface="DejaVu Sans"/>
                <a:ea typeface="DejaVu Sans"/>
                <a:cs typeface="DejaVu Sans"/>
              </a:rPr>
              <a:t>The analysis passes 43 checks, including 12 independent SQL reconciliations. Source data, calculations and KPI definitions remain traceable in the project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DEF09-0358-4EBA-8982-3689CD00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87082"/>
                </a:solidFill>
                <a:latin typeface="DejaVu Sans"/>
                <a:ea typeface="DejaVu Sans"/>
                <a:cs typeface="DejaVu Sans"/>
              </a:rPr>
              <a:t>Sources: AnalystLab Africa Week 5 brief, original SwiftLog datasets and official clarification dated 13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391193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2026-10-17T21:16:01.0290000Z</dcterms:created>
  <dcterms:modified xsi:type="dcterms:W3CDTF">2026-10-17T21:16:01.0290000Z</dcterms:modified>
</coreProperties>
</file>