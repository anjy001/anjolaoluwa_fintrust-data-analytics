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9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0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5033b9fd5f4629" /><Relationship Type="http://schemas.openxmlformats.org/officeDocument/2006/relationships/extended-properties" Target="/docProps/app.xml" Id="R1d15a92cbf4542de" /><Relationship Type="http://schemas.openxmlformats.org/officeDocument/2006/relationships/officeDocument" Target="/ppt/presentation.xml" Id="Reb2f4edd415844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eff374b5654292"/>
  </p:sldMasterIdLst>
  <p:notesMasterIdLst>
    <p:notesMasterId xmlns:r="http://schemas.openxmlformats.org/officeDocument/2006/relationships" r:id="Rcc634c0c70ca48de"/>
  </p:notesMasterIdLst>
  <p:sldIdLst>
    <p:sldId xmlns:r="http://schemas.openxmlformats.org/officeDocument/2006/relationships" id="256" r:id="R7709e4def0f84f08"/>
    <p:sldId xmlns:r="http://schemas.openxmlformats.org/officeDocument/2006/relationships" id="257" r:id="Rf25c251f70e54bc3"/>
    <p:sldId xmlns:r="http://schemas.openxmlformats.org/officeDocument/2006/relationships" id="258" r:id="R2a41780ef5a34d59"/>
    <p:sldId xmlns:r="http://schemas.openxmlformats.org/officeDocument/2006/relationships" id="259" r:id="R72befaccfe954e24"/>
    <p:sldId xmlns:r="http://schemas.openxmlformats.org/officeDocument/2006/relationships" id="260" r:id="R9fc4046759b24b4c"/>
    <p:sldId xmlns:r="http://schemas.openxmlformats.org/officeDocument/2006/relationships" id="261" r:id="Rd58ea18c77c5426d"/>
    <p:sldId xmlns:r="http://schemas.openxmlformats.org/officeDocument/2006/relationships" id="262" r:id="R218d8cee01d447db"/>
    <p:sldId xmlns:r="http://schemas.openxmlformats.org/officeDocument/2006/relationships" id="263" r:id="Rf96c2b5f16604604"/>
    <p:sldId xmlns:r="http://schemas.openxmlformats.org/officeDocument/2006/relationships" id="264" r:id="Rc407045f0c1f4548"/>
    <p:sldId xmlns:r="http://schemas.openxmlformats.org/officeDocument/2006/relationships" id="265" r:id="Re2a03dccfafb41d8"/>
    <p:sldId xmlns:r="http://schemas.openxmlformats.org/officeDocument/2006/relationships" id="266" r:id="Rc309762cc824489e"/>
    <p:sldId xmlns:r="http://schemas.openxmlformats.org/officeDocument/2006/relationships" id="267" r:id="R2d1b0f7e3e7c4798"/>
    <p:sldId xmlns:r="http://schemas.openxmlformats.org/officeDocument/2006/relationships" id="268" r:id="R3f126370e09d4c5b"/>
    <p:sldId xmlns:r="http://schemas.openxmlformats.org/officeDocument/2006/relationships" id="269" r:id="R73e1ea518f7b40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40fbc0a8fd47aa" /><Relationship Type="http://schemas.openxmlformats.org/officeDocument/2006/relationships/slideMaster" Target="/ppt/slideMasters/slideMaster1.xml" Id="Rf5eff374b5654292" /><Relationship Type="http://schemas.openxmlformats.org/officeDocument/2006/relationships/notesMaster" Target="/ppt/notesMasters/notesMaster1.xml" Id="Rcc634c0c70ca48de" /><Relationship Type="http://schemas.openxmlformats.org/officeDocument/2006/relationships/presProps" Target="/ppt/presProps.xml" Id="Ra8bf79ff45564edd" /><Relationship Type="http://schemas.openxmlformats.org/officeDocument/2006/relationships/tableStyles" Target="/ppt/tableStyles.xml" Id="R759af9a1a33a4f84" /><Relationship Type="http://schemas.openxmlformats.org/officeDocument/2006/relationships/slide" Target="/ppt/slides/slide1.xml" Id="R7709e4def0f84f08" /><Relationship Type="http://schemas.openxmlformats.org/officeDocument/2006/relationships/slide" Target="/ppt/slides/slide2.xml" Id="Rf25c251f70e54bc3" /><Relationship Type="http://schemas.openxmlformats.org/officeDocument/2006/relationships/slide" Target="/ppt/slides/slide3.xml" Id="R2a41780ef5a34d59" /><Relationship Type="http://schemas.openxmlformats.org/officeDocument/2006/relationships/slide" Target="/ppt/slides/slide4.xml" Id="R72befaccfe954e24" /><Relationship Type="http://schemas.openxmlformats.org/officeDocument/2006/relationships/slide" Target="/ppt/slides/slide5.xml" Id="R9fc4046759b24b4c" /><Relationship Type="http://schemas.openxmlformats.org/officeDocument/2006/relationships/slide" Target="/ppt/slides/slide6.xml" Id="Rd58ea18c77c5426d" /><Relationship Type="http://schemas.openxmlformats.org/officeDocument/2006/relationships/slide" Target="/ppt/slides/slide7.xml" Id="R218d8cee01d447db" /><Relationship Type="http://schemas.openxmlformats.org/officeDocument/2006/relationships/slide" Target="/ppt/slides/slide8.xml" Id="Rf96c2b5f16604604" /><Relationship Type="http://schemas.openxmlformats.org/officeDocument/2006/relationships/slide" Target="/ppt/slides/slide9.xml" Id="Rc407045f0c1f4548" /><Relationship Type="http://schemas.openxmlformats.org/officeDocument/2006/relationships/slide" Target="/ppt/slides/slide10.xml" Id="Re2a03dccfafb41d8" /><Relationship Type="http://schemas.openxmlformats.org/officeDocument/2006/relationships/slide" Target="/ppt/slides/slide11.xml" Id="Rc309762cc824489e" /><Relationship Type="http://schemas.openxmlformats.org/officeDocument/2006/relationships/slide" Target="/ppt/slides/slide12.xml" Id="R2d1b0f7e3e7c4798" /><Relationship Type="http://schemas.openxmlformats.org/officeDocument/2006/relationships/slide" Target="/ppt/slides/slide13.xml" Id="R3f126370e09d4c5b" /><Relationship Type="http://schemas.openxmlformats.org/officeDocument/2006/relationships/slide" Target="/ppt/slides/slide14.xml" Id="R73e1ea518f7b40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f5b03c59f42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5572836d434c98" /><Relationship Type="http://schemas.openxmlformats.org/officeDocument/2006/relationships/notesMaster" Target="/ppt/notesMasters/notesMaster1.xml" Id="R28df3517b97142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dd18c486964b42" /><Relationship Type="http://schemas.openxmlformats.org/officeDocument/2006/relationships/notesMaster" Target="/ppt/notesMasters/notesMaster1.xml" Id="R91f945b9065640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ea37d6124944ea" /><Relationship Type="http://schemas.openxmlformats.org/officeDocument/2006/relationships/notesMaster" Target="/ppt/notesMasters/notesMaster1.xml" Id="R992d18826d0640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631ad36d9d4136" /><Relationship Type="http://schemas.openxmlformats.org/officeDocument/2006/relationships/notesMaster" Target="/ppt/notesMasters/notesMaster1.xml" Id="Rf9de2e4d55ad4d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704c05d92d47e9" /><Relationship Type="http://schemas.openxmlformats.org/officeDocument/2006/relationships/notesMaster" Target="/ppt/notesMasters/notesMaster1.xml" Id="Raf65f2e38df645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11c91632c74e8d" /><Relationship Type="http://schemas.openxmlformats.org/officeDocument/2006/relationships/notesMaster" Target="/ppt/notesMasters/notesMaster1.xml" Id="R95a2ee32f6884a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c3fd25fd364daf" /><Relationship Type="http://schemas.openxmlformats.org/officeDocument/2006/relationships/notesMaster" Target="/ppt/notesMasters/notesMaster1.xml" Id="R78b2e823308b4a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8ebc76af3f4e79" /><Relationship Type="http://schemas.openxmlformats.org/officeDocument/2006/relationships/notesMaster" Target="/ppt/notesMasters/notesMaster1.xml" Id="Re764a1a42f884e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1c8182dd5a4e45" /><Relationship Type="http://schemas.openxmlformats.org/officeDocument/2006/relationships/notesMaster" Target="/ppt/notesMasters/notesMaster1.xml" Id="Ra7c50504f02043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1a6e56e92b4816" /><Relationship Type="http://schemas.openxmlformats.org/officeDocument/2006/relationships/notesMaster" Target="/ppt/notesMasters/notesMaster1.xml" Id="Rcde0c6cc207946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eba328d249477f" /><Relationship Type="http://schemas.openxmlformats.org/officeDocument/2006/relationships/notesMaster" Target="/ppt/notesMasters/notesMaster1.xml" Id="R0306f179f5c34f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31616b41e04e61" /><Relationship Type="http://schemas.openxmlformats.org/officeDocument/2006/relationships/notesMaster" Target="/ppt/notesMasters/notesMaster1.xml" Id="Ree52a1507f5642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e131d50775411a" /><Relationship Type="http://schemas.openxmlformats.org/officeDocument/2006/relationships/notesMaster" Target="/ppt/notesMasters/notesMaster1.xml" Id="R9e4f1aa86e344e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0253a2219a4289" /><Relationship Type="http://schemas.openxmlformats.org/officeDocument/2006/relationships/notesMaster" Target="/ppt/notesMasters/notesMaster1.xml" Id="Rafe8f6d841c746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presentation. Supplied full-year 2026 training scenario, not verified completed clinical activity. Sources and method are documented in the accompanying business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Twenty-seven source files resolve to thirty canonical tables; duplicate copies are reconciled.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Full source totals and appointment-linked comparisons answer different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The 20,000-record register and the available appointments have different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Province refers to patient residence; facility geography is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The appointment count is 5,000, compared with 60,809 in the separate annual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The full diagnosis CSV is retained; the workbook contains an identical 5,000-row subset.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Recorded payment amounts do not establish recognized revenue or receipt-month cash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Amounts are aggregated at payment grain; billing balances use payments preaggregated by bill.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The approved share includes pending records in its denominator.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Physical utilization requires operating histories and capacity denominators.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The mean recorded rating is 2.99 out of 5 across 21,064 responses.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Actions follow the observed source gaps and operational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AnalystLab Africa Week 6 brief and supplied HealthConnect files. Analysis executed in SQLite and Python. See References/Sources.md and Analysis/KPI_Definitions.csv for provenance and definitions. The evidence supports reconciliation and targeted service review before expansion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3f4a1870049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9992f745344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c057c7ac34b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9df2519e841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99a66db8845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25419ac704d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59BFA7-FA95-46DB-A1CB-D601BDA96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9B2EDB-DF3D-4AE6-AC2B-087C237971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7BF157-558D-4982-BDAB-9AE5D4328C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5BA1F9-4D79-444C-B597-ED393D002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D8A103-55AD-497C-B9A5-9A481BD319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A72D73-2947-489B-BE75-44C2067F3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D12835-AE7F-47E2-8B22-3B45B31348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D3AC5E-EEA9-49E9-8F11-89169EE25B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03BAA3-729C-42DA-AB0C-5A6DDBF790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E98FDF-2DD7-41D4-96DC-86909CA399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7fc7b5725e48e3" /><Relationship Type="http://schemas.openxmlformats.org/officeDocument/2006/relationships/slideLayout" Target="/ppt/slideLayouts/slideLayout1.xml" Id="R20693ee58467469b" /><Relationship Type="http://schemas.openxmlformats.org/officeDocument/2006/relationships/slideLayout" Target="/ppt/slideLayouts/slideLayout2.xml" Id="Ra9b837eaf7df4446" /><Relationship Type="http://schemas.openxmlformats.org/officeDocument/2006/relationships/slideLayout" Target="/ppt/slideLayouts/slideLayout3.xml" Id="R3c80c17a88cf4b8c" /><Relationship Type="http://schemas.openxmlformats.org/officeDocument/2006/relationships/slideLayout" Target="/ppt/slideLayouts/slideLayout4.xml" Id="R48db799358354003" /><Relationship Type="http://schemas.openxmlformats.org/officeDocument/2006/relationships/slideLayout" Target="/ppt/slideLayouts/slideLayout5.xml" Id="Refef3ca1289949c2" /><Relationship Type="http://schemas.openxmlformats.org/officeDocument/2006/relationships/slideLayout" Target="/ppt/slideLayouts/slideLayout6.xml" Id="R754e88c8ddc342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693ee58467469b"/>
    <p:sldLayoutId xmlns:r="http://schemas.openxmlformats.org/officeDocument/2006/relationships" id="2147483650" r:id="Ra9b837eaf7df4446"/>
    <p:sldLayoutId xmlns:r="http://schemas.openxmlformats.org/officeDocument/2006/relationships" id="2147483651" r:id="R3c80c17a88cf4b8c"/>
    <p:sldLayoutId xmlns:r="http://schemas.openxmlformats.org/officeDocument/2006/relationships" id="2147483652" r:id="R48db799358354003"/>
    <p:sldLayoutId xmlns:r="http://schemas.openxmlformats.org/officeDocument/2006/relationships" id="2147483653" r:id="Refef3ca1289949c2"/>
    <p:sldLayoutId xmlns:r="http://schemas.openxmlformats.org/officeDocument/2006/relationships" id="2147483654" r:id="R754e88c8ddc342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7a65b890943f6" /><Relationship Type="http://schemas.openxmlformats.org/officeDocument/2006/relationships/notesSlide" Target="/ppt/notesSlides/notesSlide1.xml" Id="R508c6722b07b4a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305b173efd4fed" /><Relationship Type="http://schemas.openxmlformats.org/officeDocument/2006/relationships/notesSlide" Target="/ppt/notesSlides/notesSlide2.xml" Id="R15b50dd24df44f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147f360a74307" /><Relationship Type="http://schemas.openxmlformats.org/officeDocument/2006/relationships/chart" Target="/ppt/slides/charts/chart1.xml" Id="Rf1bc50d4cd78467c" /><Relationship Type="http://schemas.openxmlformats.org/officeDocument/2006/relationships/notesSlide" Target="/ppt/notesSlides/notesSlide3.xml" Id="R61053559fd074c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273e3b9c94875" /><Relationship Type="http://schemas.openxmlformats.org/officeDocument/2006/relationships/chart" Target="/ppt/slides/charts/chart2.xml" Id="R84bb34f7a0d945bc" /><Relationship Type="http://schemas.openxmlformats.org/officeDocument/2006/relationships/notesSlide" Target="/ppt/notesSlides/notesSlide4.xml" Id="R86088719c42647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8ad73b8914437" /><Relationship Type="http://schemas.openxmlformats.org/officeDocument/2006/relationships/chart" Target="/ppt/slides/charts/chart3.xml" Id="Rb30f3a6e25644b9f" /><Relationship Type="http://schemas.openxmlformats.org/officeDocument/2006/relationships/notesSlide" Target="/ppt/notesSlides/notesSlide5.xml" Id="R02097f0bf89e4d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a8e88c95a4bec" /><Relationship Type="http://schemas.openxmlformats.org/officeDocument/2006/relationships/chart" Target="/ppt/slides/charts/chart4.xml" Id="R1e0dda65d30d4ed8" /><Relationship Type="http://schemas.openxmlformats.org/officeDocument/2006/relationships/notesSlide" Target="/ppt/notesSlides/notesSlide6.xml" Id="Rfd0799c159584e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211ffdbeb436f" /><Relationship Type="http://schemas.openxmlformats.org/officeDocument/2006/relationships/chart" Target="/ppt/slides/charts/chart5.xml" Id="R88e1ce28ca004354" /><Relationship Type="http://schemas.openxmlformats.org/officeDocument/2006/relationships/notesSlide" Target="/ppt/notesSlides/notesSlide7.xml" Id="R0c5dc8272b8346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e07b9cc48243a5" /><Relationship Type="http://schemas.openxmlformats.org/officeDocument/2006/relationships/chart" Target="/ppt/slides/charts/chart6.xml" Id="R940d46d45c254d2e" /><Relationship Type="http://schemas.openxmlformats.org/officeDocument/2006/relationships/notesSlide" Target="/ppt/notesSlides/notesSlide8.xml" Id="R565c6aab6bf54e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d697b34e44ffe" /><Relationship Type="http://schemas.openxmlformats.org/officeDocument/2006/relationships/chart" Target="/ppt/slides/charts/chart7.xml" Id="R240e91a91e5642e3" /><Relationship Type="http://schemas.openxmlformats.org/officeDocument/2006/relationships/notesSlide" Target="/ppt/notesSlides/notesSlide9.xml" Id="Rfd4a772d15c94f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ca6c028c44660" /><Relationship Type="http://schemas.openxmlformats.org/officeDocument/2006/relationships/chart" Target="/ppt/slides/charts/chart8.xml" Id="Rbe7792fc81054461" /><Relationship Type="http://schemas.openxmlformats.org/officeDocument/2006/relationships/notesSlide" Target="/ppt/notesSlides/notesSlide10.xml" Id="R4f9d156bb1654c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9dabd8bb04e2f" /><Relationship Type="http://schemas.openxmlformats.org/officeDocument/2006/relationships/chart" Target="/ppt/slides/charts/chart9.xml" Id="R6ce31ca69b384b83" /><Relationship Type="http://schemas.openxmlformats.org/officeDocument/2006/relationships/notesSlide" Target="/ppt/notesSlides/notesSlide11.xml" Id="Rf2df0f124dbd4f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79b408126422e" /><Relationship Type="http://schemas.openxmlformats.org/officeDocument/2006/relationships/chart" Target="/ppt/slides/charts/chart10.xml" Id="R044a8a755caa46f0" /><Relationship Type="http://schemas.openxmlformats.org/officeDocument/2006/relationships/notesSlide" Target="/ppt/notesSlides/notesSlide12.xml" Id="Rd317cd67223d44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c9d51a7584bdd" /><Relationship Type="http://schemas.openxmlformats.org/officeDocument/2006/relationships/notesSlide" Target="/ppt/notesSlides/notesSlide13.xml" Id="R7859275a8f9b48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4c1e590644357" /><Relationship Type="http://schemas.openxmlformats.org/officeDocument/2006/relationships/notesSlide" Target="/ppt/notesSlides/notesSlide14.xml" Id="R6b9d764b2bb349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Share of source records linked to available appointments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3D4A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AC493F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Billing</c:v>
                </c:pt>
                <c:pt idx="1">
                  <c:v>Diagnoses</c:v>
                </c:pt>
                <c:pt idx="2">
                  <c:v>Feedback</c:v>
                </c:pt>
                <c:pt idx="3">
                  <c:v>Laboratory tests</c:v>
                </c:pt>
                <c:pt idx="4">
                  <c:v>Prescriptions</c:v>
                </c:pt>
                <c:pt idx="5">
                  <c:v>Admissions</c:v>
                </c:pt>
                <c:pt idx="6">
                  <c:v>Referrals</c:v>
                </c:pt>
              </c:strCache>
            </c:strRef>
          </c:cat>
          <c:val>
            <c:numRef>
              <c:f>'Chart Data'!$B$2:$B$8</c:f>
              <c:numCache>
                <c:formatCode>0.0%</c:formatCode>
                <c:ptCount val="7"/>
                <c:pt idx="0">
                  <c:v>0.0833333333333</c:v>
                </c:pt>
                <c:pt idx="1">
                  <c:v>0.0833333333333</c:v>
                </c:pt>
                <c:pt idx="2">
                  <c:v>0.0833649829092</c:v>
                </c:pt>
                <c:pt idx="3">
                  <c:v>0.4544</c:v>
                </c:pt>
                <c:pt idx="4">
                  <c:v>0.8006</c:v>
                </c:pt>
                <c:pt idx="5">
                  <c:v>0.1172</c:v>
                </c:pt>
                <c:pt idx="6">
                  <c:v>0.0881478334749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3D4A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4ECEE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Registered patients by observed appointment presence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3D4A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147D8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At least one available appointment</c:v>
                </c:pt>
                <c:pt idx="1">
                  <c:v>No appointment in available extract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4443</c:v>
                </c:pt>
                <c:pt idx="1">
                  <c:v>15557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3D4A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180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4ECEE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Registered patients by province of residence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3D4A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147D83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Western</c:v>
                </c:pt>
                <c:pt idx="1">
                  <c:v>Eastern</c:v>
                </c:pt>
                <c:pt idx="2">
                  <c:v>Southern</c:v>
                </c:pt>
                <c:pt idx="3">
                  <c:v>Kigali City</c:v>
                </c:pt>
                <c:pt idx="4">
                  <c:v>Northern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4091</c:v>
                </c:pt>
                <c:pt idx="1">
                  <c:v>4067</c:v>
                </c:pt>
                <c:pt idx="2">
                  <c:v>3967</c:v>
                </c:pt>
                <c:pt idx="3">
                  <c:v>3952</c:v>
                </c:pt>
                <c:pt idx="4">
                  <c:v>3923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3D4A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46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4ECEE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2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Available appointments by scenario month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3D4A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147D83"/>
            </a:solidFill>
          </c:spPr>
          <c:marker>
            <c:symbol val="none"/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#,##0</c:formatCode>
                <c:ptCount val="12"/>
                <c:pt idx="0">
                  <c:v>418</c:v>
                </c:pt>
                <c:pt idx="1">
                  <c:v>413</c:v>
                </c:pt>
                <c:pt idx="2">
                  <c:v>440</c:v>
                </c:pt>
                <c:pt idx="3">
                  <c:v>405</c:v>
                </c:pt>
                <c:pt idx="4">
                  <c:v>400</c:v>
                </c:pt>
                <c:pt idx="5">
                  <c:v>437</c:v>
                </c:pt>
                <c:pt idx="6">
                  <c:v>416</c:v>
                </c:pt>
                <c:pt idx="7">
                  <c:v>428</c:v>
                </c:pt>
                <c:pt idx="8">
                  <c:v>408</c:v>
                </c:pt>
                <c:pt idx="9">
                  <c:v>414</c:v>
                </c:pt>
                <c:pt idx="10">
                  <c:v>420</c:v>
                </c:pt>
                <c:pt idx="11">
                  <c:v>401</c:v>
                </c:pt>
              </c:numCache>
            </c:numRef>
          </c:val>
          <c:smooth val="0"/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3D4A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CEE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Diagnosis records in the full extract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3D4A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147D83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Gastritis</c:v>
                </c:pt>
                <c:pt idx="1">
                  <c:v>Diabetes</c:v>
                </c:pt>
                <c:pt idx="2">
                  <c:v>Hypertension</c:v>
                </c:pt>
                <c:pt idx="3">
                  <c:v>Malaria</c:v>
                </c:pt>
                <c:pt idx="4">
                  <c:v>Upper respiratory infection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12208</c:v>
                </c:pt>
                <c:pt idx="1">
                  <c:v>12083</c:v>
                </c:pt>
                <c:pt idx="2">
                  <c:v>12075</c:v>
                </c:pt>
                <c:pt idx="3">
                  <c:v>11878</c:v>
                </c:pt>
                <c:pt idx="4">
                  <c:v>11756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3D4A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140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4ECEE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Financial source totals · RWF billion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3D4A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147D83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Billed amounts</c:v>
                </c:pt>
                <c:pt idx="1">
                  <c:v>Payment records</c:v>
                </c:pt>
                <c:pt idx="2">
                  <c:v>RevenueSummary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9.309401961</c:v>
                </c:pt>
                <c:pt idx="1">
                  <c:v>8.389454556</c:v>
                </c:pt>
                <c:pt idx="2">
                  <c:v>1.1326775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3D4A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1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CEE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Recorded payment amounts by method · RWF billion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3D4A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147D83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Card</c:v>
                </c:pt>
                <c:pt idx="1">
                  <c:v>Mobile Money</c:v>
                </c:pt>
                <c:pt idx="2">
                  <c:v>Insurance</c:v>
                </c:pt>
                <c:pt idx="3">
                  <c:v>Cash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2.115489446</c:v>
                </c:pt>
                <c:pt idx="1">
                  <c:v>2.10477931</c:v>
                </c:pt>
                <c:pt idx="2">
                  <c:v>2.094324407</c:v>
                </c:pt>
                <c:pt idx="3">
                  <c:v>2.074861393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3D4A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2.6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4ECEE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Insurance claim status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3D4A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C58A4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Approved</c:v>
                </c:pt>
                <c:pt idx="1">
                  <c:v>Pending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21008</c:v>
                </c:pt>
                <c:pt idx="1">
                  <c:v>21028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3D4A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250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4ECEE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Staff register by role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3D4A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147D83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Nurse</c:v>
                </c:pt>
                <c:pt idx="1">
                  <c:v>Doctor</c:v>
                </c:pt>
                <c:pt idx="2">
                  <c:v>Administrative Staff</c:v>
                </c:pt>
                <c:pt idx="3">
                  <c:v>Pharmacist</c:v>
                </c:pt>
                <c:pt idx="4">
                  <c:v>Laboratory scientist</c:v>
                </c:pt>
                <c:pt idx="5">
                  <c:v>Radiographer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700</c:v>
                </c:pt>
                <c:pt idx="1">
                  <c:v>350</c:v>
                </c:pt>
                <c:pt idx="2">
                  <c:v>80</c:v>
                </c:pt>
                <c:pt idx="3">
                  <c:v>50</c:v>
                </c:pt>
                <c:pt idx="4">
                  <c:v>40</c:v>
                </c:pt>
                <c:pt idx="5">
                  <c:v>30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3D4A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85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4ECEE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2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Feedback responses by recorded rating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73D4A"/>
              </a:solidFill>
              <a:latin typeface="Bitstream Charter"/>
              <a:ea typeface="Bitstream Charter"/>
              <a:cs typeface="Bitstream Charter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C58A42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4245</c:v>
                </c:pt>
                <c:pt idx="1">
                  <c:v>4273</c:v>
                </c:pt>
                <c:pt idx="2">
                  <c:v>4202</c:v>
                </c:pt>
                <c:pt idx="3">
                  <c:v>4195</c:v>
                </c:pt>
                <c:pt idx="4">
                  <c:v>4149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73D4A"/>
                  </a:solidFill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CEE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  <c:majorUnit val="2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ADC5420-8441-4B24-A5EB-D55D3677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HEALTHCONNECT RWANDA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174B2CD-53CA-4C48-AEB9-441412CC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Healthcare operations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and performance analytics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F1CB498-49BC-4EB5-BE46-1B38BB55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rPr>
              <a:t>Coverage, financial reconciliation and patient experience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8C8DF7-9EA0-48E9-B96E-2CD920DC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8052A38-BBB0-4526-8274-D708A3A7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CDE4E5"/>
                </a:solidFill>
                <a:latin typeface="Bitstream Charter"/>
                <a:ea typeface="Bitstream Charter"/>
                <a:cs typeface="Bitstream Charter"/>
              </a:rPr>
              <a:t>AnalystLab Africa · Week 6 · 25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30019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55E3BED-26E6-4889-ABF8-7EF31AB1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747994F-92C6-4E60-9254-4518F551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Healthcare performance spans seven analytical domains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EBBF21-B78D-450D-B076-CE917E69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Twenty-seven source files resolve to thirty canonical tables; duplicate copies are reconciled.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DC8187C-F346-46F7-8993-56E36C10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8769805-D606-4DDC-91EE-CCFA75EC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17600-44C1-499F-A390-81D350ABE902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537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381500"/>
              </a:tblGrid>
              <a:tr h="638175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Domain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T w="5715">
                      <a:solidFill>
                        <a:srgbClr val="CCD9DC"/>
                      </a:solidFill>
                      <a:prstDash val="solid"/>
                    </a:lnT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173D4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Source basis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T w="5715">
                      <a:solidFill>
                        <a:srgbClr val="CCD9DC"/>
                      </a:solidFill>
                      <a:prstDash val="solid"/>
                    </a:lnT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173D4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Reported scope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T w="5715">
                      <a:solidFill>
                        <a:srgbClr val="CCD9DC"/>
                      </a:solidFill>
                      <a:prstDash val="solid"/>
                    </a:lnT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173D4A"/>
                    </a:solidFill>
                  </a:tcPr>
                </a:tc>
              </a:tr>
              <a:tr h="6381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Patients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20,000 register records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Demographics and recorded conditions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Clinical activity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5,000 appointments; 60,000 diagnoses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Full facts plus linked encounter views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</a:tr>
              <a:tr h="6381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Finance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60,000 bills and payment records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RWF amounts; undated receipts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Operations and experience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1,250 staff; 21,064 feedback records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Inventory counts and descriptive ratings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A5A755F-7BDA-46DE-AC53-00ED7C23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Scenario dates extend to 28 December 2026; 864 appointments fall after the 25 October analysis date.</a:t>
            </a:r>
          </a:p>
        </p:txBody>
      </p:sp>
    </p:spTree>
    <p:extLst>
      <p:ext uri="{BB962C8B-B14F-4D97-AF65-F5344CB8AC3E}">
        <p14:creationId xmlns:p14="http://schemas.microsoft.com/office/powerpoint/2010/main" val="1945515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538B792B-4686-4274-8406-608EFF17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EEE8D9-DD9E-4AFD-AD89-CAE0A4D1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Incomplete encounter linkage governs interpretation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AACF3A-8F19-499A-93B6-225F72E5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Full source totals and appointment-linked comparisons answer different questions.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E050A49-63A2-4ACF-9964-64DE46FC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1507BEF-7775-4999-BE5E-F7DDB158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D78DDAB-C292-44F9-97C7-110E421E4461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524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bc50d4cd78467c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8D0D87D-8D90-497F-ADE9-F58D535E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8.33% of bills link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5201201-6F74-4F9C-89A7-15C4220D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8003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55,000 bills cannot be assigned to an available appointment, facility or encounter month.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63F8F40-7A4A-4063-8B69-8B8A6CFE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Unmatched source records are retained in global totals; missing links are not replaced with fabricated encounters.</a:t>
            </a:r>
          </a:p>
        </p:txBody>
      </p:sp>
    </p:spTree>
    <p:extLst>
      <p:ext uri="{BB962C8B-B14F-4D97-AF65-F5344CB8AC3E}">
        <p14:creationId xmlns:p14="http://schemas.microsoft.com/office/powerpoint/2010/main" val="1580034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27844CB-0F16-4354-8E8D-E749F729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72C7B7E-8764-4CEA-9A8E-1060A3B6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Only 4,443 registered patients appear in the visit extract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6D90E6C-70D8-4F7A-AC15-890F523D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The 20,000-record register and the available appointments have different coverage.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68FB87-9371-4031-A8E8-D9C90402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2E90588-A09C-4BB7-8FB0-F04F233D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5E168AD-E1B4-4185-8748-987605F7043E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bb34f7a0d945bc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4CBCB16-3CCD-4579-AEC3-618990AA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510 repeat-visit patients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CD4A601-E9CC-4185-966A-E61F2C2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8003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These patients have at least two available appointments. This is an observed repeat-visit count, not a retention rate.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C79E7D1-2974-4B0B-B466-C0E7D5D3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All source patient records are labelled Active. First observed attendance does not establish registration date.</a:t>
            </a:r>
          </a:p>
        </p:txBody>
      </p:sp>
    </p:spTree>
    <p:extLst>
      <p:ext uri="{BB962C8B-B14F-4D97-AF65-F5344CB8AC3E}">
        <p14:creationId xmlns:p14="http://schemas.microsoft.com/office/powerpoint/2010/main" val="318136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3AE7149E-F402-4BD6-9588-73F2FFF8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A41BA28-229D-4071-93AD-456C54FC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The patient register is geographically balanced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E95B3E-2B2E-423B-B2B6-47185379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Province refers to patient residence; facility geography is unavailable.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8B8E7F7-85B2-4DE7-BB92-D579A00D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54CC513-33A6-4018-BF6C-6056B1F6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96A0687-8045-4D18-B967-33BF10CF87A2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0f3a6e25644b9f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A336969-E882-49DD-9D56-B90600E9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45.03 years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4D16226-5FEF-4C60-AFD5-2BF7579E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8003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Mean supplied age. Recorded gender is 50.45% Male and 49.55% Female; 74.65% have a non-None chronic-condition category.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E8B9187-774D-4081-B0A3-DFA33984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Every patient carries an insurance code; policy validity and patient insurance-provider mappings are not supplied.</a:t>
            </a:r>
          </a:p>
        </p:txBody>
      </p:sp>
    </p:spTree>
    <p:extLst>
      <p:ext uri="{BB962C8B-B14F-4D97-AF65-F5344CB8AC3E}">
        <p14:creationId xmlns:p14="http://schemas.microsoft.com/office/powerpoint/2010/main" val="789028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AB6791E8-C25B-439D-9866-6ACEC88D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CCCB80E-D9BD-401A-A011-A81E57E2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Monthly visit volumes describe the available extract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602F23-92B1-486D-ACFC-FEC1A06A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The appointment count is 5,000, compared with 60,809 in the separate annual summary.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28A91AB-9541-4C91-B9E7-1CA0B858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C690999-2563-4578-8A39-E697F8D0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F3F4525-8E6A-4F94-B29F-CEC6421BEBA1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0dda65d30d4ed8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4CD41A19-B498-44C2-A12D-4F6102DB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33.00% Emergency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D65BE75-D216-485F-9451-94C26E82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8003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The supplied mix is 1,650 Emergency, 1,656 Consultation and 1,694 Follow-up appointments.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4FA7D788-40F6-44E9-AE4C-7CFA3C9D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This incomplete scenario series does not support a defensible forecast of total network demand.</a:t>
            </a:r>
          </a:p>
        </p:txBody>
      </p:sp>
    </p:spTree>
    <p:extLst>
      <p:ext uri="{BB962C8B-B14F-4D97-AF65-F5344CB8AC3E}">
        <p14:creationId xmlns:p14="http://schemas.microsoft.com/office/powerpoint/2010/main" val="704829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137BC05-1BDA-4D53-ABD1-F01E8F12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66415D0-987D-49B2-B304-7D5F990D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Diagnosis counts are descriptive record volumes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CEC13A-7E96-4420-AD0C-94167F24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The full diagnosis CSV is retained; the workbook contains an identical 5,000-row subset.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0F46CF-25BE-4C29-AF6B-2B47E69F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5F25329-04F3-4993-BCC1-0BD19502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3BE5BA7-693D-453B-8836-9DD7AF8BE4B7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e1ce28ca004354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7F8DF25-9906-4932-A087-38FB6E5F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5.49 days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49B259F-61EA-4EC2-B576-BB0E8985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8003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Mean supplied length of stay across 5,000 admission records. Dated admission and discharge episodes are absent.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46973D26-D796-4952-B091-8386AC55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No clinical readmission rate or causal diagnosis-outcome conclusion is inferred from these extracts.</a:t>
            </a:r>
          </a:p>
        </p:txBody>
      </p:sp>
    </p:spTree>
    <p:extLst>
      <p:ext uri="{BB962C8B-B14F-4D97-AF65-F5344CB8AC3E}">
        <p14:creationId xmlns:p14="http://schemas.microsoft.com/office/powerpoint/2010/main" val="575745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3DB63322-918C-4244-8D0E-341815B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1153671-B694-48DC-A8E6-6DF53723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The three financial sources remain unreconciled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C26A29A-3085-4122-8CD9-0AADD07D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Recorded payment amounts do not establish recognized revenue or receipt-month cash flow.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04DAA70-FB5E-4F72-940D-E9A3EA15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9C373E0-E1F4-44AA-97E4-C4C29C82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A9CCF5C-B425-428E-8FF8-0F76C7FC7105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0d46d45c254d2e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AD63A62-A6A1-4C96-A8E0-B3BE21A0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RWF 0.920bn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1BCE6B0-B0A8-4DE0-BAAD-42C67CCE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8003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Positive bill balances. There are no calculated credits; the payment-to-bill amount ratio is 90.12%.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F323B5C-30D4-442B-812B-E6709D8B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Bills, payments and feedback lack transaction dates. RevenueSummary remains a separately labelled monthly source.</a:t>
            </a:r>
          </a:p>
        </p:txBody>
      </p:sp>
    </p:spTree>
    <p:extLst>
      <p:ext uri="{BB962C8B-B14F-4D97-AF65-F5344CB8AC3E}">
        <p14:creationId xmlns:p14="http://schemas.microsoft.com/office/powerpoint/2010/main" val="1561433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160CB717-F1D5-424B-9A6D-8287EBCB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C5E436F-D65C-48E6-B276-628D97C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Payment-method totals reconcile to recorded payments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177A60-8FD9-4584-86D4-DD53D06F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Amounts are aggregated at payment grain; billing balances use payments preaggregated by bill.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B6BFDA6-B31F-4558-BCB3-FB17D2B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93167BF-C682-4BAB-8D02-2CB6EA4A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1AD6792-06DE-43E1-A751-BFDC0EC93052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0e91a91e5642e3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26B66E2-CBB6-4CF9-A3E6-47176991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RWF 155,157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0C7436B-7198-4E4D-952E-58E76B15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8003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Mean supplied bill. Facility and department financial comparisons cover only the 5,000 linked bills.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C8CB551-71B6-4DCC-A0AD-6C0BFFB1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Revenue by service is unavailable because ServiceID is absent from the transaction tables.</a:t>
            </a:r>
          </a:p>
        </p:txBody>
      </p:sp>
    </p:spTree>
    <p:extLst>
      <p:ext uri="{BB962C8B-B14F-4D97-AF65-F5344CB8AC3E}">
        <p14:creationId xmlns:p14="http://schemas.microsoft.com/office/powerpoint/2010/main" val="4560112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9476E51A-1F9B-4173-93FD-E169454A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5639E1C-6449-45F2-916E-DE0E2D7C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Half of supplied claims remain Pending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CDF3FE-7D02-42AD-A281-E605D2B5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The approved share includes pending records in its denominator.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C6F96C-A745-475D-BA09-4417FEE5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C9A830C-650B-4D33-8479-913637BA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E791B56-2289-4F82-9597-A5C6416AB076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7792fc81054461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9409E69-0DCC-4752-9D09-644A4C41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21,028 Pending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E31D5D6-E3B0-4670-B975-94AC8E02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8003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49.98% of all 42,036 claims are Approved. Claim dates and aging are unavailable.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F22EF7A-61E6-42BD-91C2-178C8FD3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Claim providers identify claims and associated bills; they do not decode patient master insurance codes.</a:t>
            </a:r>
          </a:p>
        </p:txBody>
      </p:sp>
    </p:spTree>
    <p:extLst>
      <p:ext uri="{BB962C8B-B14F-4D97-AF65-F5344CB8AC3E}">
        <p14:creationId xmlns:p14="http://schemas.microsoft.com/office/powerpoint/2010/main" val="19514530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AD34C64-4DEF-410A-96F0-04EB15AC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F8A6074-B709-45D5-AB83-2BFBFE94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Staff and inventory counts do not measure capacity use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F78C9F5-F78F-40CA-A58B-58DD5A07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Physical utilization requires operating histories and capacity denominators.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0001C0A-BC0D-4106-A306-1194BD8F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E8D627-C49C-4F44-BA46-65E82749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7B4A786-A65D-4AE6-A411-7D10C096F02F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e31ca69b384b83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A530394-2E63-44CC-B347-A85A2A6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2,000 beds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31E0618-64DC-4138-928B-18138014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8003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Also 400 rooms and 200 equipment items. All beds are labelled Available; occupancy and equipment availability are unmeasured.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B0E3D19-304F-49BC-BF6C-98B61324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Twenty facility identifiers are observed. Only 5.12% of appointment-to-department facility references align.</a:t>
            </a:r>
          </a:p>
        </p:txBody>
      </p:sp>
    </p:spTree>
    <p:extLst>
      <p:ext uri="{BB962C8B-B14F-4D97-AF65-F5344CB8AC3E}">
        <p14:creationId xmlns:p14="http://schemas.microsoft.com/office/powerpoint/2010/main" val="3292165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55298B92-5225-4872-8900-4D2E639E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3262A93-5BC5-42B0-A997-58206649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Low ratings account for 40.44% of feedback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B47A28C-D2D2-4F1F-B7DC-29DCDC7A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The mean recorded rating is 2.99 out of 5 across 21,064 responses.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E355D1A-20CB-4C9F-B02D-C491BF4C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BB62E7-8FFC-4575-BB16-5F15CC0E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7CCA4C6-408A-400C-A966-0779A5F669D0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4a8a755caa46f0"/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4B3AB4F-3183-4B37-A9B2-BD7F4EEA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800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8.34% linked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7490BE3-6892-4493-9300-922C59C9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8003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Facility and encounter-month rating comparisons cover 1,756 linked responses and must show their response counts.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D468720D-D73D-46AE-9180-7A2C4317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Comment categories and numeric ratings are separate fields. No feedback-submission dates are available.</a:t>
            </a:r>
          </a:p>
        </p:txBody>
      </p:sp>
    </p:spTree>
    <p:extLst>
      <p:ext uri="{BB962C8B-B14F-4D97-AF65-F5344CB8AC3E}">
        <p14:creationId xmlns:p14="http://schemas.microsoft.com/office/powerpoint/2010/main" val="19588825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59B25FD5-D396-43B5-AD87-179B728F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3C91139-9F22-41EF-9586-E8600B06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Prioritize reconciliation and measurement coverage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FD47282-CDA2-46A6-928B-EEA4124B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Actions follow the observed source gaps and operational evidence.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4FE5DC-4479-4ED2-B029-C8426818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42E223E-1481-49A8-86AA-59347D23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7F25F-40EC-44C8-996F-792BF037CCDC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5375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4810125"/>
                <a:gridCol w="5000625"/>
              </a:tblGrid>
              <a:tr h="638175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Priority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T w="5715">
                      <a:solidFill>
                        <a:srgbClr val="CCD9DC"/>
                      </a:solidFill>
                      <a:prstDash val="solid"/>
                    </a:lnT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173D4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T w="5715">
                      <a:solidFill>
                        <a:srgbClr val="CCD9DC"/>
                      </a:solidFill>
                      <a:prstDash val="solid"/>
                    </a:lnT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173D4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T w="5715">
                      <a:solidFill>
                        <a:srgbClr val="CCD9DC"/>
                      </a:solidFill>
                      <a:prstDash val="solid"/>
                    </a:lnT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173D4A"/>
                    </a:solidFill>
                  </a:tcPr>
                </a:tc>
              </a:tr>
              <a:tr h="6381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Recover complete appointment history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55,000 bills have no available encounter link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Reconcile finance definitions and dates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RWF 9.309bn billed vs 8.389bn payments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</a:tr>
              <a:tr h="6381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Correct facility and department mappings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94.88% appointment–department mismatch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Review pending claims and low ratings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21,028 Pending; 40.44% ratings are 1–2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FD4FB73-342B-42C4-9A5C-C24D3843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Additional controls: verified facility directory, service keys, dated capacity logs and restricted individual-data access.</a:t>
            </a:r>
          </a:p>
        </p:txBody>
      </p:sp>
    </p:spTree>
    <p:extLst>
      <p:ext uri="{BB962C8B-B14F-4D97-AF65-F5344CB8AC3E}">
        <p14:creationId xmlns:p14="http://schemas.microsoft.com/office/powerpoint/2010/main" val="15975847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FF468A0-BBCF-4AC2-9B44-0B668924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47D83"/>
                </a:solidFill>
                <a:latin typeface="Bitstream Charter"/>
                <a:ea typeface="Bitstream Charter"/>
                <a:cs typeface="Bitstream Charter"/>
              </a:rPr>
              <a:t>HEALTHCONNECT RWANDA  /  ANALYSTLAB AFRICA · WEEK 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72E854E-0D44-411F-A7DD-8C862866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3D4A"/>
                </a:solidFill>
                <a:latin typeface="Bitstream Charter"/>
                <a:ea typeface="Bitstream Charter"/>
                <a:cs typeface="Bitstream Charter"/>
              </a:rPr>
              <a:t>Reliable totals need equally clear reporting boundaries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DBEAC9-D26F-4D1D-B8DD-DED2838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The evidence supports reconciliation and targeted service review before expansion decisions.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35C4273-4754-470F-A153-1F83A40B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Supplied 2026 training scenario · Iyiola Anjolaoluwa Emmanuel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D64664D-8CD1-4D02-B578-B18E8F4D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6BBD8-C079-4DF0-95A6-144FD2977EDC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537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619750"/>
              </a:tblGrid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Completed analytical work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T w="5715">
                      <a:solidFill>
                        <a:srgbClr val="CCD9DC"/>
                      </a:solidFill>
                      <a:prstDash val="solid"/>
                    </a:lnT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173D4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Interpretation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T w="5715">
                      <a:solidFill>
                        <a:srgbClr val="CCD9DC"/>
                      </a:solidFill>
                      <a:prstDash val="solid"/>
                    </a:lnT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173D4A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40 SQL answers; 122 checks passed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Twelve independent SQL-to-Python reconciliations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Six analytical views and documented measures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Global totals remain distinct from linked subsets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Reproducible SQLite database and SQL dump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Backup restored and principal totals verified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Capacity and clinical outcomes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CCD9DC"/>
                      </a:solidFill>
                      <a:prstDash val="solid"/>
                    </a:lnL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3D4A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Unavailable measures remain unavailable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CCD9DC"/>
                      </a:solidFill>
                      <a:prstDash val="solid"/>
                    </a:lnR>
                    <a:lnB w="5715">
                      <a:solidFill>
                        <a:srgbClr val="CCD9DC"/>
                      </a:solidFill>
                      <a:prstDash val="solid"/>
                    </a:lnB>
                    <a:solidFill>
                      <a:srgbClr val="E8F0F1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DE0E4F3-5678-483D-A5FB-4B05EFD9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1pPr>
            <a:lvl2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2pPr>
            <a:lvl3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3pPr>
            <a:lvl4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4pPr>
            <a:lvl5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5pPr>
            <a:lvl6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6pPr>
            <a:lvl7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7pPr>
            <a:lvl8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8pPr>
            <a:lvl9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26774"/>
                </a:solidFill>
                <a:latin typeface="Bitstream Charter"/>
                <a:ea typeface="Bitstream Charter"/>
                <a:cs typeface="Bitstream Charter"/>
              </a:rPr>
              <a:t>Sources: AnalystLab Africa Week 6 brief and supplied files. Detailed provenance and limitations accompany the report.</a:t>
            </a:r>
          </a:p>
        </p:txBody>
      </p:sp>
    </p:spTree>
    <p:extLst>
      <p:ext uri="{BB962C8B-B14F-4D97-AF65-F5344CB8AC3E}">
        <p14:creationId xmlns:p14="http://schemas.microsoft.com/office/powerpoint/2010/main" val="328138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2026-10-25T19:20:20.1210000Z</dcterms:created>
  <dcterms:modified xsi:type="dcterms:W3CDTF">2026-10-25T19:20:20.1210000Z</dcterms:modified>
</coreProperties>
</file>